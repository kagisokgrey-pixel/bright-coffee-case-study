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24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Drip coffee</c:v>
                  </c:pt>
                  <c:pt idx="1">
                    <c:v>Premium brewed coffee</c:v>
                  </c:pt>
                  <c:pt idx="2">
                    <c:v>Brewed herbal tea</c:v>
                  </c:pt>
                  <c:pt idx="3">
                    <c:v>Brewed Black tea</c:v>
                  </c:pt>
                  <c:pt idx="4">
                    <c:v>Gourmet brewed coffee</c:v>
                  </c:pt>
                  <c:pt idx="5">
                    <c:v>Hot chocolate</c:v>
                  </c:pt>
                  <c:pt idx="6">
                    <c:v>Brewed Chai tea</c:v>
                  </c:pt>
                  <c:pt idx="7">
                    <c:v>Barista Espresso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31984</c:v>
                </c:pt>
                <c:pt idx="1">
                  <c:v>38781</c:v>
                </c:pt>
                <c:pt idx="2">
                  <c:v>47540</c:v>
                </c:pt>
                <c:pt idx="3">
                  <c:v>47932</c:v>
                </c:pt>
                <c:pt idx="4">
                  <c:v>70035</c:v>
                </c:pt>
                <c:pt idx="5">
                  <c:v>72416</c:v>
                </c:pt>
                <c:pt idx="6">
                  <c:v>77082</c:v>
                </c:pt>
                <c:pt idx="7">
                  <c:v>91406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A24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24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FEAE2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24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Brewed Black tea</c:v>
                  </c:pt>
                  <c:pt idx="1">
                    <c:v>Gourmet brewed coffee</c:v>
                  </c:pt>
                  <c:pt idx="2">
                    <c:v>Hot chocolate</c:v>
                  </c:pt>
                  <c:pt idx="3">
                    <c:v>Brewed Chai tea</c:v>
                  </c:pt>
                  <c:pt idx="4">
                    <c:v>Barista Espresso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47932</c:v>
                </c:pt>
                <c:pt idx="1">
                  <c:v>70035</c:v>
                </c:pt>
                <c:pt idx="2">
                  <c:v>72416</c:v>
                </c:pt>
                <c:pt idx="3">
                  <c:v>77082</c:v>
                </c:pt>
                <c:pt idx="4">
                  <c:v>91406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A24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24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24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Hot chocolate</c:v>
                  </c:pt>
                  <c:pt idx="1">
                    <c:v>Brewed Black tea</c:v>
                  </c:pt>
                  <c:pt idx="2">
                    <c:v>Barista Espresso</c:v>
                  </c:pt>
                  <c:pt idx="3">
                    <c:v>Gourmet brewed coffee</c:v>
                  </c:pt>
                  <c:pt idx="4">
                    <c:v>Brewed Chai tea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17457</c:v>
                </c:pt>
                <c:pt idx="1">
                  <c:v>17462</c:v>
                </c:pt>
                <c:pt idx="2">
                  <c:v>24943</c:v>
                </c:pt>
                <c:pt idx="3">
                  <c:v>25973</c:v>
                </c:pt>
                <c:pt idx="4">
                  <c:v>26250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A24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24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B6834"/>
            </a:solidFill>
            <a:ln w="381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06:00</c:v>
                  </c:pt>
                  <c:pt idx="1">
                    <c:v>07:00</c:v>
                  </c:pt>
                  <c:pt idx="2">
                    <c:v>08:00</c:v>
                  </c:pt>
                  <c:pt idx="3">
                    <c:v>09:00</c:v>
                  </c:pt>
                  <c:pt idx="4">
                    <c:v>10:00</c:v>
                  </c:pt>
                  <c:pt idx="5">
                    <c:v>10:30</c:v>
                  </c:pt>
                  <c:pt idx="6">
                    <c:v>11:00</c:v>
                  </c:pt>
                  <c:pt idx="7">
                    <c:v>12:00</c:v>
                  </c:pt>
                  <c:pt idx="8">
                    <c:v>13:00</c:v>
                  </c:pt>
                  <c:pt idx="9">
                    <c:v>14:00</c:v>
                  </c:pt>
                  <c:pt idx="10">
                    <c:v>15:00</c:v>
                  </c:pt>
                  <c:pt idx="11">
                    <c:v>16:00</c:v>
                  </c:pt>
                  <c:pt idx="12">
                    <c:v>17:00</c:v>
                  </c:pt>
                  <c:pt idx="13">
                    <c:v>18:00</c:v>
                  </c:pt>
                  <c:pt idx="14">
                    <c:v>19:00</c:v>
                  </c:pt>
                  <c:pt idx="15">
                    <c:v>20:00</c:v>
                  </c:pt>
                  <c:pt idx="16">
                    <c:v>20:30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6621</c:v>
                </c:pt>
                <c:pt idx="1">
                  <c:v>29888</c:v>
                </c:pt>
                <c:pt idx="2">
                  <c:v>41307</c:v>
                </c:pt>
                <c:pt idx="3">
                  <c:v>42384</c:v>
                </c:pt>
                <c:pt idx="4">
                  <c:v>43707</c:v>
                </c:pt>
                <c:pt idx="5">
                  <c:v>44967</c:v>
                </c:pt>
                <c:pt idx="6">
                  <c:v>25609</c:v>
                </c:pt>
                <c:pt idx="7">
                  <c:v>20584</c:v>
                </c:pt>
                <c:pt idx="8">
                  <c:v>19999</c:v>
                </c:pt>
                <c:pt idx="9">
                  <c:v>21508</c:v>
                </c:pt>
                <c:pt idx="10">
                  <c:v>20289</c:v>
                </c:pt>
                <c:pt idx="11">
                  <c:v>21006</c:v>
                </c:pt>
                <c:pt idx="12">
                  <c:v>19536</c:v>
                </c:pt>
                <c:pt idx="13">
                  <c:v>19521</c:v>
                </c:pt>
                <c:pt idx="14">
                  <c:v>14417</c:v>
                </c:pt>
                <c:pt idx="15">
                  <c:v>1327</c:v>
                </c:pt>
                <c:pt idx="16">
                  <c:v>1609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1000" b="0" i="0" u="none" strike="noStrike">
                <a:solidFill>
                  <a:srgbClr val="2A24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FEAE2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bubble3D val="0"/>
            <c:spPr>
              <a:solidFill>
                <a:srgbClr val="1BAF7A"/>
              </a:solidFill>
              <a:effectLst/>
            </c:spPr>
          </c:dPt>
          <c:dPt>
            <c:idx val="2"/>
            <c:bubble3D val="0"/>
            <c:spPr>
              <a:solidFill>
                <a:srgbClr val="EB6834"/>
              </a:solidFill>
              <a:effectLst/>
            </c:spPr>
          </c:dPt>
          <c:dPt>
            <c:idx val="3"/>
            <c:bubble3D val="0"/>
            <c:spPr>
              <a:solidFill>
                <a:srgbClr val="7C5CBF"/>
              </a:solidFill>
              <a:effectLst/>
            </c:spPr>
          </c:dPt>
          <c:dPt>
            <c:idx val="4"/>
            <c:bubble3D val="0"/>
            <c:spPr>
              <a:solidFill>
                <a:srgbClr val="5A8FCE"/>
              </a:solidFill>
              <a:effectLst/>
            </c:spPr>
          </c:dPt>
          <c:dPt>
            <c:idx val="5"/>
            <c:bubble3D val="0"/>
            <c:spPr>
              <a:solidFill>
                <a:srgbClr val="59C79A"/>
              </a:solidFill>
              <a:effectLst/>
            </c:spPr>
          </c:dPt>
          <c:dPt>
            <c:idx val="6"/>
            <c:bubble3D val="0"/>
            <c:spPr>
              <a:solidFill>
                <a:srgbClr val="F0995F"/>
              </a:solidFill>
              <a:effectLst/>
            </c:spPr>
          </c:dPt>
          <c:dPt>
            <c:idx val="7"/>
            <c:bubble3D val="0"/>
            <c:spPr>
              <a:solidFill>
                <a:srgbClr val="A891D4"/>
              </a:solidFill>
              <a:effectLst/>
            </c:spPr>
          </c:dPt>
          <c:dPt>
            <c:idx val="8"/>
            <c:bubble3D val="0"/>
            <c:spPr>
              <a:solidFill>
                <a:srgbClr val="B8AFA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Drinking Chocolate</c:v>
                </c:pt>
                <c:pt idx="4">
                  <c:v>Coffee beans</c:v>
                </c:pt>
                <c:pt idx="5">
                  <c:v>Flavours</c:v>
                </c:pt>
                <c:pt idx="6">
                  <c:v>Branded</c:v>
                </c:pt>
                <c:pt idx="7">
                  <c:v>Loose Tea</c:v>
                </c:pt>
                <c:pt idx="8">
                  <c:v>Packaged Chocolate</c:v>
                </c:pt>
              </c:strCache>
            </c:strRef>
          </c:cat>
          <c:val>
            <c:numRef>
              <c:f>Sheet1!$B$2:$B$10</c:f>
              <c:numCache>
                <c:ptCount val="9"/>
                <c:pt idx="0">
                  <c:v>269952</c:v>
                </c:pt>
                <c:pt idx="1">
                  <c:v>196406</c:v>
                </c:pt>
                <c:pt idx="2">
                  <c:v>82316</c:v>
                </c:pt>
                <c:pt idx="3">
                  <c:v>72416</c:v>
                </c:pt>
                <c:pt idx="4">
                  <c:v>40085</c:v>
                </c:pt>
                <c:pt idx="5">
                  <c:v>8409</c:v>
                </c:pt>
                <c:pt idx="6">
                  <c:v>13607</c:v>
                </c:pt>
                <c:pt idx="7">
                  <c:v>11214</c:v>
                </c:pt>
                <c:pt idx="8">
                  <c:v>4408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50">
              <a:solidFill>
                <a:srgbClr val="2A241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C5CBF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24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Herbal tea</c:v>
                  </c:pt>
                  <c:pt idx="1">
                    <c:v>Black tea</c:v>
                  </c:pt>
                  <c:pt idx="2">
                    <c:v>Sugar free syrup</c:v>
                  </c:pt>
                  <c:pt idx="3">
                    <c:v>Organic Chocolate</c:v>
                  </c:pt>
                  <c:pt idx="4">
                    <c:v>Green tea</c:v>
                  </c:pt>
                  <c:pt idx="5">
                    <c:v>Green beans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2730</c:v>
                </c:pt>
                <c:pt idx="1">
                  <c:v>2712</c:v>
                </c:pt>
                <c:pt idx="2">
                  <c:v>2324</c:v>
                </c:pt>
                <c:pt idx="3">
                  <c:v>1680</c:v>
                </c:pt>
                <c:pt idx="4">
                  <c:v>1471</c:v>
                </c:pt>
                <c:pt idx="5">
                  <c:v>1340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A24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A24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offee-dash-report.lovable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offee-dash-report.lovable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8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3B241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&amp; Growth Recommendations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review of transaction activity, product performance, and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patterns — with recommendations to grow revenue.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9963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CEO by Kagiso Matenchi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0" y="619963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149,116 transactions analyzed  ·  Source: Databricks (cleaned)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67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business,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BF8F3"/>
          </a:solidFill>
          <a:ln w="12700">
            <a:solidFill>
              <a:srgbClr val="EDE3D6"/>
            </a:solidFill>
            <a:prstDash val="solid"/>
          </a:ln>
          <a:effectLst>
            <a:outerShdw sx="100000" sy="100000" kx="0" ky="0" algn="bl" rotWithShape="0" blurRad="76200" dist="38100" dir="5400000">
              <a:srgbClr val="1A110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542032" cy="8229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$698,812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46704" y="169164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BF8F3"/>
          </a:solidFill>
          <a:ln w="12700">
            <a:solidFill>
              <a:srgbClr val="EDE3D6"/>
            </a:solidFill>
            <a:prstDash val="solid"/>
          </a:ln>
          <a:effectLst>
            <a:outerShdw sx="100000" sy="100000" kx="0" ky="0" algn="bl" rotWithShape="0" blurRad="76200" dist="38100" dir="5400000">
              <a:srgbClr val="1A110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46704" y="1691640"/>
            <a:ext cx="2542032" cy="82296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0" name="Text 8"/>
          <p:cNvSpPr/>
          <p:nvPr/>
        </p:nvSpPr>
        <p:spPr>
          <a:xfrm>
            <a:off x="3346704" y="201168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149,116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46704" y="283464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44768" y="169164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BF8F3"/>
          </a:solidFill>
          <a:ln w="12700">
            <a:solidFill>
              <a:srgbClr val="EDE3D6"/>
            </a:solidFill>
            <a:prstDash val="solid"/>
          </a:ln>
          <a:effectLst>
            <a:outerShdw sx="100000" sy="100000" kx="0" ky="0" algn="bl" rotWithShape="0" blurRad="76200" dist="38100" dir="5400000">
              <a:srgbClr val="1A110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44768" y="1691640"/>
            <a:ext cx="2542032" cy="82296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4" name="Text 12"/>
          <p:cNvSpPr/>
          <p:nvPr/>
        </p:nvSpPr>
        <p:spPr>
          <a:xfrm>
            <a:off x="6144768" y="201168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214,470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44768" y="283464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42832" y="169164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FBF8F3"/>
          </a:solidFill>
          <a:ln w="12700">
            <a:solidFill>
              <a:srgbClr val="EDE3D6"/>
            </a:solidFill>
            <a:prstDash val="solid"/>
          </a:ln>
          <a:effectLst>
            <a:outerShdw sx="100000" sy="100000" kx="0" ky="0" algn="bl" rotWithShape="0" blurRad="76200" dist="38100" dir="5400000">
              <a:srgbClr val="1A110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42832" y="1691640"/>
            <a:ext cx="2542032" cy="82296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8" name="Text 16"/>
          <p:cNvSpPr/>
          <p:nvPr/>
        </p:nvSpPr>
        <p:spPr>
          <a:xfrm>
            <a:off x="8942832" y="201168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$4.69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942832" y="283464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3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in three lines: 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A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and tea drive two-thirds of revenue, trading peaks sharply mid-morning, and the top revenue product isn't the top-selling one.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follows — each finding on the next slides is backed by the underlying transaction data.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67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3B2417"/>
          </a:solidFill>
          <a:ln/>
          <a:effectLst>
            <a:outerShdw sx="100000" sy="100000" kx="0" ky="0" algn="bl" rotWithShape="0" blurRad="76200" dist="38100" dir="5400000">
              <a:srgbClr val="1A110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F0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Shop's new CEO wants to grow revenue and improve product performance. As Junior Data Analyst, I was asked to extract actionable insight from historical transaction data to support that decision-making.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5394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7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149,116 transactions  ·  3 store locations  ·  29 product types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8076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this deck answers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2240280"/>
            <a:ext cx="384048" cy="384048"/>
          </a:xfrm>
          <a:prstGeom prst="ellipse">
            <a:avLst/>
          </a:prstGeom>
          <a:solidFill>
            <a:srgbClr val="FBF8F3"/>
          </a:solidFill>
          <a:ln w="15875">
            <a:solidFill>
              <a:srgbClr val="C67C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2240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7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185416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A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generate the most revenue?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80760" y="3154680"/>
            <a:ext cx="384048" cy="384048"/>
          </a:xfrm>
          <a:prstGeom prst="ellipse">
            <a:avLst/>
          </a:prstGeom>
          <a:solidFill>
            <a:srgbClr val="FBF8F3"/>
          </a:solidFill>
          <a:ln w="15875">
            <a:solidFill>
              <a:srgbClr val="C67C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7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3099816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A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of day does the store perform best?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080760" y="4069080"/>
            <a:ext cx="384048" cy="384048"/>
          </a:xfrm>
          <a:prstGeom prst="ellipse">
            <a:avLst/>
          </a:prstGeom>
          <a:solidFill>
            <a:srgbClr val="FBF8F3"/>
          </a:solidFill>
          <a:ln w="15875">
            <a:solidFill>
              <a:srgbClr val="C67C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7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4014216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A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sales trends across products and time?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080760" y="4983480"/>
            <a:ext cx="384048" cy="384048"/>
          </a:xfrm>
          <a:prstGeom prst="ellipse">
            <a:avLst/>
          </a:prstGeom>
          <a:solidFill>
            <a:srgbClr val="FBF8F3"/>
          </a:solidFill>
          <a:ln w="15875">
            <a:solidFill>
              <a:srgbClr val="C67C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4983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7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4928616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A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change to improve performance?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67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recommendation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42032" cy="3108960"/>
          </a:xfrm>
          <a:prstGeom prst="roundRect">
            <a:avLst>
              <a:gd name="adj" fmla="val 2878"/>
            </a:avLst>
          </a:prstGeom>
          <a:solidFill>
            <a:srgbClr val="FBF8F3"/>
          </a:solidFill>
          <a:ln w="12700">
            <a:solidFill>
              <a:srgbClr val="EDE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77440"/>
            <a:ext cx="548640" cy="54864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 data exported to CSV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90672" y="33375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7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46704" y="2103120"/>
            <a:ext cx="2542032" cy="3108960"/>
          </a:xfrm>
          <a:prstGeom prst="roundRect">
            <a:avLst>
              <a:gd name="adj" fmla="val 2878"/>
            </a:avLst>
          </a:prstGeom>
          <a:solidFill>
            <a:srgbClr val="FBF8F3"/>
          </a:solidFill>
          <a:ln w="12700">
            <a:solidFill>
              <a:srgbClr val="EDE3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75304" y="2377440"/>
            <a:ext cx="548640" cy="54864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2" name="Text 10"/>
          <p:cNvSpPr/>
          <p:nvPr/>
        </p:nvSpPr>
        <p:spPr>
          <a:xfrm>
            <a:off x="3575304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75304" y="315468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75304" y="361188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transformed in Databricks (SQL)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888736" y="33375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7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44768" y="2103120"/>
            <a:ext cx="2542032" cy="3108960"/>
          </a:xfrm>
          <a:prstGeom prst="roundRect">
            <a:avLst>
              <a:gd name="adj" fmla="val 2878"/>
            </a:avLst>
          </a:prstGeom>
          <a:solidFill>
            <a:srgbClr val="FBF8F3"/>
          </a:solidFill>
          <a:ln w="12700">
            <a:solidFill>
              <a:srgbClr val="EDE3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73368" y="2377440"/>
            <a:ext cx="548640" cy="54864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73368" y="315468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73368" y="361188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in Excel — pivots, revenue &amp; time-bucket calculations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86800" y="33375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7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42832" y="2103120"/>
            <a:ext cx="2542032" cy="3108960"/>
          </a:xfrm>
          <a:prstGeom prst="roundRect">
            <a:avLst>
              <a:gd name="adj" fmla="val 2878"/>
            </a:avLst>
          </a:prstGeom>
          <a:solidFill>
            <a:srgbClr val="FBF8F3"/>
          </a:solidFill>
          <a:ln w="12700">
            <a:solidFill>
              <a:srgbClr val="EDE3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71432" y="2377440"/>
            <a:ext cx="548640" cy="548640"/>
          </a:xfrm>
          <a:prstGeom prst="ellipse">
            <a:avLst/>
          </a:prstGeom>
          <a:solidFill>
            <a:srgbClr val="7C5CBF"/>
          </a:solidFill>
          <a:ln/>
        </p:spPr>
      </p:sp>
      <p:sp>
        <p:nvSpPr>
          <p:cNvPr id="24" name="Text 22"/>
          <p:cNvSpPr/>
          <p:nvPr/>
        </p:nvSpPr>
        <p:spPr>
          <a:xfrm>
            <a:off x="9171432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71432" y="315468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71432" y="3611880"/>
            <a:ext cx="20848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built in Excel and a live web app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55321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data-quality catch: the raw transaction_time field carried today's date instead of the true transaction date — corrected before any time-based analysis.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67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Espresso is the single biggest revenue driver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08760"/>
            <a:ext cx="3840480" cy="4846320"/>
          </a:xfrm>
          <a:prstGeom prst="roundRect">
            <a:avLst>
              <a:gd name="adj" fmla="val 1905"/>
            </a:avLst>
          </a:prstGeom>
          <a:solidFill>
            <a:srgbClr val="FBF8F3"/>
          </a:solidFill>
          <a:ln w="12700">
            <a:solidFill>
              <a:srgbClr val="EDE3D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product type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38160" y="21488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Barista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Espresso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138160" y="3246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$91,406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138160" y="3794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total revenue — 13.1% of all revenue from a single product type.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138160" y="4754880"/>
            <a:ext cx="3200400" cy="0"/>
          </a:xfrm>
          <a:prstGeom prst="line">
            <a:avLst/>
          </a:prstGeom>
          <a:noFill/>
          <a:ln w="12700">
            <a:solidFill>
              <a:srgbClr val="E3D6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0" y="49377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and tea beverages fill 8 of the top 10 revenue-generating product types.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67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top earner isn't the top seller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product types by revenue and by units sold tells two different stories — a real signal about price point versus volume.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REVENUE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33172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UNITS SOLD</a:t>
            </a:r>
            <a:endParaRPr lang="en-US" sz="11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63640" y="233172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67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Trading peaks sharply at 10:30am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1109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71500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FBF8F3"/>
          </a:solidFill>
          <a:ln w="12700">
            <a:solidFill>
              <a:srgbClr val="EDE3D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5788152"/>
            <a:ext cx="3191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INTERVAL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13232" y="6025896"/>
            <a:ext cx="3191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10:30am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13232" y="6373368"/>
            <a:ext cx="3191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$44,967 in a single 30-min window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25112" y="571500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FBF8F3"/>
          </a:solidFill>
          <a:ln w="12700">
            <a:solidFill>
              <a:srgbClr val="EDE3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89704" y="5788152"/>
            <a:ext cx="3191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OPEN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489704" y="6025896"/>
            <a:ext cx="3191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6:00am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489704" y="6373368"/>
            <a:ext cx="3191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$6,621 — 7x lower than peak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101584" y="571500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FBF8F3"/>
          </a:solidFill>
          <a:ln w="12700">
            <a:solidFill>
              <a:srgbClr val="EDE3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66176" y="5788152"/>
            <a:ext cx="3191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CLOSE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266176" y="6025896"/>
            <a:ext cx="3191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8:00–8:30pm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266176" y="6373368"/>
            <a:ext cx="3191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$1,700 combined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67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Coffee and tea drive two-thirds of revenue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54864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37960" y="1554480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3B2417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share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235440" y="2331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38.6%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149840" y="2331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C9B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$269,952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858000" y="29535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235440" y="29535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28.1%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149840" y="295351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C9B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$196,406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58000" y="357530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9235440" y="357530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0149840" y="357530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C9B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$82,316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858000" y="419709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Drinking Chocolate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9235440" y="419709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0149840" y="419709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C9B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$72,416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858000" y="4892040"/>
            <a:ext cx="4480560" cy="0"/>
          </a:xfrm>
          <a:prstGeom prst="line">
            <a:avLst/>
          </a:prstGeom>
          <a:noFill/>
          <a:ln w="12700">
            <a:solidFill>
              <a:srgbClr val="5C453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0" y="507492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D9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categories alone account for 88.9% of all revenue — the remaining five categories share the last 11.1%.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67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group of products lag well behind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554480"/>
            <a:ext cx="4297680" cy="4754880"/>
          </a:xfrm>
          <a:prstGeom prst="roundRect">
            <a:avLst>
              <a:gd name="adj" fmla="val 1702"/>
            </a:avLst>
          </a:prstGeom>
          <a:solidFill>
            <a:srgbClr val="FBF8F3"/>
          </a:solidFill>
          <a:ln w="12700">
            <a:solidFill>
              <a:srgbClr val="EDE3D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680960" y="22860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3B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product types earns under 2% of what the top revenue product earns.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680960" y="320040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A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necessarily a problem — but it is a decision point. Each of these products is a candidate for either a promotional push to test real demand, or a menu simplification if demand genuinely isn't there.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67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moves to grow revenue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8728" cy="4480560"/>
          </a:xfrm>
          <a:prstGeom prst="roundRect">
            <a:avLst>
              <a:gd name="adj" fmla="val 2067"/>
            </a:avLst>
          </a:prstGeom>
          <a:solidFill>
            <a:srgbClr val="FBF8F3"/>
          </a:solidFill>
          <a:ln w="12700">
            <a:solidFill>
              <a:srgbClr val="EDE3D6"/>
            </a:solidFill>
            <a:prstDash val="solid"/>
          </a:ln>
          <a:effectLst>
            <a:outerShdw sx="100000" sy="100000" kx="0" ky="0" algn="bl" rotWithShape="0" blurRad="76200" dist="38100" dir="5400000">
              <a:srgbClr val="1A110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990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campaigns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 slow slots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99008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A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6:00am open and 8:00–8:30pm close with early-bird or last-call promotions — the two weakest windows of the day, 7–28x below the 10:30am peak.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538728" cy="4480560"/>
          </a:xfrm>
          <a:prstGeom prst="roundRect">
            <a:avLst>
              <a:gd name="adj" fmla="val 2067"/>
            </a:avLst>
          </a:prstGeom>
          <a:solidFill>
            <a:srgbClr val="FBF8F3"/>
          </a:solidFill>
          <a:ln w="12700">
            <a:solidFill>
              <a:srgbClr val="EDE3D6"/>
            </a:solidFill>
            <a:prstDash val="solid"/>
          </a:ln>
          <a:effectLst>
            <a:outerShdw sx="100000" sy="100000" kx="0" ky="0" algn="bl" rotWithShape="0" blurRad="76200" dist="38100" dir="5400000">
              <a:srgbClr val="1A110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26864" y="1965960"/>
            <a:ext cx="640080" cy="6400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2834640"/>
            <a:ext cx="2990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more of the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best-sellers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26864" y="3840480"/>
            <a:ext cx="299008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A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inventory and prep for Brewed Chai tea, Gourmet brewed coffee, and Barista Espresso — the three highest-volume types — especially through the 8:00–10:30am rush.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538728" cy="4480560"/>
          </a:xfrm>
          <a:prstGeom prst="roundRect">
            <a:avLst>
              <a:gd name="adj" fmla="val 2067"/>
            </a:avLst>
          </a:prstGeom>
          <a:solidFill>
            <a:srgbClr val="FBF8F3"/>
          </a:solidFill>
          <a:ln w="12700">
            <a:solidFill>
              <a:srgbClr val="EDE3D6"/>
            </a:solidFill>
            <a:prstDash val="solid"/>
          </a:ln>
          <a:effectLst>
            <a:outerShdw sx="100000" sy="100000" kx="0" ky="0" algn="bl" rotWithShape="0" blurRad="76200" dist="38100" dir="5400000">
              <a:srgbClr val="1A110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0768" y="1965960"/>
            <a:ext cx="640080" cy="6400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430768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2834640"/>
            <a:ext cx="2990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 the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underperformers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30768" y="3840480"/>
            <a:ext cx="299008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A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or feature Green beans, Green tea, and Organic Chocolate with best-sellers to test whether low sales reflect low awareness or genuinely low demand.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it yourself — the live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D9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in this deck is also available as a live, filterable dashboard — updated as new transaction data comes in, filterable by date range and store location.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19456" cy="21945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24328"/>
            <a:ext cx="6172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Live-filtered revenue, transactions, units, and average order value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219456" cy="21945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218688"/>
            <a:ext cx="6172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 for product performance and trading-time patterns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219456" cy="21945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813048"/>
            <a:ext cx="6172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location filter — Astoria, Hell's Kitchen, Lower Manhattan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6583680" cy="1371600"/>
          </a:xfrm>
          <a:prstGeom prst="roundRect">
            <a:avLst>
              <a:gd name="adj" fmla="val 5333"/>
            </a:avLst>
          </a:prstGeom>
          <a:solidFill>
            <a:srgbClr val="3B2417"/>
          </a:solidFill>
          <a:ln w="15875">
            <a:solidFill>
              <a:srgbClr val="C67C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0749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67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050" dirty="0"/>
          </a:p>
        </p:txBody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868680" y="53492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coffee-dash-report.lovable.app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635240" y="1463040"/>
            <a:ext cx="4023360" cy="4800600"/>
          </a:xfrm>
          <a:prstGeom prst="roundRect">
            <a:avLst>
              <a:gd name="adj" fmla="val 1818"/>
            </a:avLst>
          </a:prstGeom>
          <a:solidFill>
            <a:srgbClr val="3B2417"/>
          </a:solidFill>
          <a:ln w="12700">
            <a:solidFill>
              <a:srgbClr val="5C45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 ON THE DASHBOARD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55280" y="2286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$698,812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55280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B9A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55280" y="3291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149,116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55280" y="3749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B9A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55280" y="4297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214,470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955280" y="4754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B9A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55280" y="5303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$4.69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955280" y="5760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B9A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67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from 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38728" cy="4206240"/>
          </a:xfrm>
          <a:prstGeom prst="roundRect">
            <a:avLst>
              <a:gd name="adj" fmla="val 2067"/>
            </a:avLst>
          </a:prstGeom>
          <a:solidFill>
            <a:srgbClr val="FBF8F3"/>
          </a:solidFill>
          <a:ln w="12700">
            <a:solidFill>
              <a:srgbClr val="EDE3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990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daily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reporting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99008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A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 Databricks pipeline to run daily so this dashboard always reflects current performance — no manual exports.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783080"/>
            <a:ext cx="3538728" cy="4206240"/>
          </a:xfrm>
          <a:prstGeom prst="roundRect">
            <a:avLst>
              <a:gd name="adj" fmla="val 2067"/>
            </a:avLst>
          </a:prstGeom>
          <a:solidFill>
            <a:srgbClr val="FBF8F3"/>
          </a:solidFill>
          <a:ln w="12700">
            <a:solidFill>
              <a:srgbClr val="EDE3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6864" y="2057400"/>
            <a:ext cx="548640" cy="54864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6864" y="2788920"/>
            <a:ext cx="2990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performance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locations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26864" y="3749040"/>
            <a:ext cx="299008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A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today's aggregate view into a side-by-side comparison of Astoria, Hell's Kitchen, and Lower Manhattan.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783080"/>
            <a:ext cx="3538728" cy="4206240"/>
          </a:xfrm>
          <a:prstGeom prst="roundRect">
            <a:avLst>
              <a:gd name="adj" fmla="val 2067"/>
            </a:avLst>
          </a:prstGeom>
          <a:solidFill>
            <a:srgbClr val="FBF8F3"/>
          </a:solidFill>
          <a:ln w="12700">
            <a:solidFill>
              <a:srgbClr val="EDE3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0768" y="2057400"/>
            <a:ext cx="548640" cy="54864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6" name="Text 14"/>
          <p:cNvSpPr/>
          <p:nvPr/>
        </p:nvSpPr>
        <p:spPr>
          <a:xfrm>
            <a:off x="8430768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30768" y="2788920"/>
            <a:ext cx="2990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loyalty programs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3B2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peak time slot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30768" y="3749040"/>
            <a:ext cx="299008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A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incentives around the 10:30am peak and the 6:00am / 8:00pm slow windows to help smooth demand across the day.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3375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and the live dashboard is always open for a deeper look.</a:t>
            </a:r>
            <a:endParaRPr lang="en-US" sz="15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822960" y="4023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coffee-dash-report.lovable.app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3B241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619963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Kagiso Matenchi  ·  Junior Data Analyst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619963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Shop Sales 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2026-07-23T05:37:26Z</dcterms:created>
  <dcterms:modified xsi:type="dcterms:W3CDTF">2026-07-23T05:37:26Z</dcterms:modified>
</cp:coreProperties>
</file>